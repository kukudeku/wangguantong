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cd8f6977bd4d6e" /><Relationship Type="http://schemas.openxmlformats.org/officeDocument/2006/relationships/extended-properties" Target="/docProps/app.xml" Id="R34f2d980c5ff49bd" /><Relationship Type="http://schemas.openxmlformats.org/officeDocument/2006/relationships/officeDocument" Target="/ppt/presentation.xml" Id="R60d73dd75fff49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e6c84bcc55470f"/>
  </p:sldMasterIdLst>
  <p:notesMasterIdLst>
    <p:notesMasterId xmlns:r="http://schemas.openxmlformats.org/officeDocument/2006/relationships" r:id="R2022e5f0fb0c498f"/>
  </p:notesMasterIdLst>
  <p:sldIdLst>
    <p:sldId xmlns:r="http://schemas.openxmlformats.org/officeDocument/2006/relationships" id="256" r:id="R696bebd7a2fd4102"/>
    <p:sldId xmlns:r="http://schemas.openxmlformats.org/officeDocument/2006/relationships" id="257" r:id="Rb06793203b154ddf"/>
    <p:sldId xmlns:r="http://schemas.openxmlformats.org/officeDocument/2006/relationships" id="258" r:id="R200aaa232865495f"/>
    <p:sldId xmlns:r="http://schemas.openxmlformats.org/officeDocument/2006/relationships" id="259" r:id="R8f9466747ade41e2"/>
    <p:sldId xmlns:r="http://schemas.openxmlformats.org/officeDocument/2006/relationships" id="260" r:id="Rde020163ece8445e"/>
    <p:sldId xmlns:r="http://schemas.openxmlformats.org/officeDocument/2006/relationships" id="261" r:id="Ra35d890163c449cd"/>
    <p:sldId xmlns:r="http://schemas.openxmlformats.org/officeDocument/2006/relationships" id="262" r:id="Ra36b014dae804c56"/>
    <p:sldId xmlns:r="http://schemas.openxmlformats.org/officeDocument/2006/relationships" id="263" r:id="Reec2d14806cf436f"/>
  </p:sldIdLst>
  <p:sldSz cx="9144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c6078950a24145" /><Relationship Type="http://schemas.openxmlformats.org/officeDocument/2006/relationships/slideMaster" Target="/ppt/slideMasters/slideMaster1.xml" Id="R7be6c84bcc55470f" /><Relationship Type="http://schemas.openxmlformats.org/officeDocument/2006/relationships/notesMaster" Target="/ppt/notesMasters/notesMaster1.xml" Id="R2022e5f0fb0c498f" /><Relationship Type="http://schemas.openxmlformats.org/officeDocument/2006/relationships/presProps" Target="/ppt/presProps.xml" Id="R18c6e0c9c9b74671" /><Relationship Type="http://schemas.openxmlformats.org/officeDocument/2006/relationships/tableStyles" Target="/ppt/tableStyles.xml" Id="R60035cbcf79c45aa" /><Relationship Type="http://schemas.openxmlformats.org/officeDocument/2006/relationships/slide" Target="/ppt/slides/slide1.xml" Id="R696bebd7a2fd4102" /><Relationship Type="http://schemas.openxmlformats.org/officeDocument/2006/relationships/slide" Target="/ppt/slides/slide2.xml" Id="Rb06793203b154ddf" /><Relationship Type="http://schemas.openxmlformats.org/officeDocument/2006/relationships/slide" Target="/ppt/slides/slide3.xml" Id="R200aaa232865495f" /><Relationship Type="http://schemas.openxmlformats.org/officeDocument/2006/relationships/slide" Target="/ppt/slides/slide4.xml" Id="R8f9466747ade41e2" /><Relationship Type="http://schemas.openxmlformats.org/officeDocument/2006/relationships/slide" Target="/ppt/slides/slide5.xml" Id="Rde020163ece8445e" /><Relationship Type="http://schemas.openxmlformats.org/officeDocument/2006/relationships/slide" Target="/ppt/slides/slide6.xml" Id="Ra35d890163c449cd" /><Relationship Type="http://schemas.openxmlformats.org/officeDocument/2006/relationships/slide" Target="/ppt/slides/slide7.xml" Id="Ra36b014dae804c56" /><Relationship Type="http://schemas.openxmlformats.org/officeDocument/2006/relationships/slide" Target="/ppt/slides/slide8.xml" Id="Reec2d14806cf43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d813a9dd3f42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5126715e29415f" /><Relationship Type="http://schemas.openxmlformats.org/officeDocument/2006/relationships/notesMaster" Target="/ppt/notesMasters/notesMaster1.xml" Id="R898d1b048c5840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55d6fe6e834554" /><Relationship Type="http://schemas.openxmlformats.org/officeDocument/2006/relationships/notesMaster" Target="/ppt/notesMasters/notesMaster1.xml" Id="Rdf0c2dee213744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bef65218504130" /><Relationship Type="http://schemas.openxmlformats.org/officeDocument/2006/relationships/notesMaster" Target="/ppt/notesMasters/notesMaster1.xml" Id="R22196935f6ac42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0bda8414354a65" /><Relationship Type="http://schemas.openxmlformats.org/officeDocument/2006/relationships/notesMaster" Target="/ppt/notesMasters/notesMaster1.xml" Id="Rc5292342c76e4d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38b116ab1e44d4" /><Relationship Type="http://schemas.openxmlformats.org/officeDocument/2006/relationships/notesMaster" Target="/ppt/notesMasters/notesMaster1.xml" Id="Rb83c4808bf0f40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997a2da936452f" /><Relationship Type="http://schemas.openxmlformats.org/officeDocument/2006/relationships/notesMaster" Target="/ppt/notesMasters/notesMaster1.xml" Id="R00b67bc7e2474c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e143ab96264b28" /><Relationship Type="http://schemas.openxmlformats.org/officeDocument/2006/relationships/notesMaster" Target="/ppt/notesMasters/notesMaster1.xml" Id="R823a2ac86cba4b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563af7032b448d" /><Relationship Type="http://schemas.openxmlformats.org/officeDocument/2006/relationships/notesMaster" Target="/ppt/notesMasters/notesMaster1.xml" Id="Rd9a681f2862c4a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05e8b89e414c06" /></Relationships>
</file>

<file path=ppt/slideLayouts/slideLayout1.xml><?xml version="1.0" encoding="utf-8"?>
<p:sldLayout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1F6EC96-F318-4F29-8C8F-8FB1B86B569E}"/>
              </a:ext>
            </a:extLst>
          </p:cNvPr>
          <p:cNvSpPr>
            <a:spLocks xmlns:a="http://schemas.openxmlformats.org/drawingml/2006/main" noGrp="1"/>
          </p:cNvSpPr>
          <p:nvPr>
            <p:ph type="ftr" idx="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4E92F01-C40E-40C8-882A-7715F2E0FD97}"/>
              </a:ext>
            </a:extLst>
          </p:cNvPr>
          <p:cNvSpPr>
            <a:spLocks xmlns:a="http://schemas.openxmlformats.org/drawingml/2006/main" noGrp="1"/>
          </p:cNvSpPr>
          <p:nvPr>
            <p:ph type="sldNum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6B1320-2337-4419-804D-895F76256B9F}" type="slidenum">
              <a:t>&lt;#&gt;</a:t>
            </a:fld>
          </a:p>
        </p:txBody>
      </p:sp>
      <p:sp>
        <p:nvSpPr>
          <p:cNvPr id="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25E9D5E6-414C-49AD-BFC6-BBDCFBD54E02}"/>
              </a:ext>
            </a:extLst>
          </p:cNvPr>
          <p:cNvSpPr>
            <a:spLocks xmlns:a="http://schemas.openxmlformats.org/drawingml/2006/main" noGrp="1"/>
          </p:cNvSpPr>
          <p:nvPr>
            <p:ph type="dt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79da86643544a6" /><Relationship Type="http://schemas.openxmlformats.org/officeDocument/2006/relationships/slideLayout" Target="/ppt/slideLayouts/slideLayout1.xml" Id="R14787c37a88040a8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5AE1332-29C9-4A2E-BA5B-904D4D8AE2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960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defRPr sz="4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4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1A16AB47-D411-4B22-928A-5D548330241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600200"/>
            <a:ext cx="8229600" cy="452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t">
            <a:normAutofit/>
          </a:bodyPr>
          <a:lstStyle xmlns:a="http://schemas.openxmlformats.org/drawingml/2006/main">
            <a:lvl1pPr algn="l">
              <a:spcBef>
                <a:spcPts val="799"/>
              </a:spcBef>
              <a:buChar char="•"/>
              <a:defRPr sz="3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799"/>
              </a:spcBef>
              <a:buChar char="–"/>
              <a:defRPr sz="3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799"/>
              </a:spcBef>
              <a:buChar char="•"/>
              <a:defRPr sz="3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799"/>
              </a:spcBef>
              <a:buChar char="–"/>
              <a:defRPr sz="3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799"/>
              </a:spcBef>
              <a:buChar char="»"/>
              <a:defRPr sz="3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799"/>
              </a:spcBef>
              <a:buChar char="»"/>
              <a:defRPr sz="3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799"/>
              </a:spcBef>
              <a:buChar char="»"/>
              <a:defRPr sz="3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marL="343080" indent="-343080" algn="l">
              <a:spcBef>
                <a:spcPts val="799"/>
              </a:spcBef>
              <a:buChar char="•"/>
            </a:pPr>
            <a:r>
              <a:rPr sz="3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indent="-285840" algn="l">
              <a:spcBef>
                <a:spcPts val="799"/>
              </a:spcBef>
              <a:buChar char="–"/>
            </a:pPr>
            <a:r>
              <a:rPr sz="3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indent="-228600" algn="l">
              <a:spcBef>
                <a:spcPts val="799"/>
              </a:spcBef>
              <a:buChar char="•"/>
            </a:pPr>
            <a:r>
              <a:rPr sz="3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indent="-228600" algn="l">
              <a:spcBef>
                <a:spcPts val="799"/>
              </a:spcBef>
              <a:buChar char="–"/>
            </a:pPr>
            <a:r>
              <a:rPr sz="3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indent="-228600" algn="l">
              <a:spcBef>
                <a:spcPts val="799"/>
              </a:spcBef>
              <a:buChar char="»"/>
            </a:pPr>
            <a:r>
              <a:rPr sz="3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indent="-228600" algn="l">
              <a:spcBef>
                <a:spcPts val="799"/>
              </a:spcBef>
              <a:buChar char="»"/>
            </a:pPr>
            <a:r>
              <a:rPr sz="3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indent="-228600" algn="l">
              <a:spcBef>
                <a:spcPts val="799"/>
              </a:spcBef>
              <a:buChar char="»"/>
            </a:pPr>
            <a:r>
              <a:rPr sz="3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C0CD0CB4-D00D-4F99-9E19-82C89473824F}"/>
              </a:ext>
            </a:extLst>
          </p:cNvPr>
          <p:cNvSpPr>
            <a:spLocks xmlns:a="http://schemas.openxmlformats.org/drawingml/2006/main" noGrp="1"/>
          </p:cNvSpPr>
          <p:nvPr>
            <p:ph type="dt" idx="1"/>
          </p:nvPr>
        </p:nvSpPr>
        <p:spPr>
          <a:xfrm xmlns:a="http://schemas.openxmlformats.org/drawingml/2006/main">
            <a:off x="457200" y="6244560"/>
            <a:ext cx="2133360" cy="476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5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CF55B3E9-A803-422F-ACF5-1B9C71CBD128}"/>
              </a:ext>
            </a:extLst>
          </p:cNvPr>
          <p:cNvSpPr>
            <a:spLocks xmlns:a="http://schemas.openxmlformats.org/drawingml/2006/main" noGrp="1"/>
          </p:cNvSpPr>
          <p:nvPr>
            <p:ph type="ftr" idx="2"/>
          </p:nvPr>
        </p:nvSpPr>
        <p:spPr>
          <a:xfrm xmlns:a="http://schemas.openxmlformats.org/drawingml/2006/main">
            <a:off x="3123720" y="6244560"/>
            <a:ext cx="2895480" cy="476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indent="0" algn="l">
              <a:buNone/>
            </a:pPr>
            <a:r>
              <a:t/>
            </a:r>
          </a:p>
        </p:txBody>
      </p:sp>
      <p:sp>
        <p:nvSpPr>
          <p:cNvPr id="6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059A7DED-961A-45BD-AB9A-512F7A057A77}"/>
              </a:ext>
            </a:extLst>
          </p:cNvPr>
          <p:cNvSpPr>
            <a:spLocks xmlns:a="http://schemas.openxmlformats.org/drawingml/2006/main" noGrp="1"/>
          </p:cNvSpPr>
          <p:nvPr>
            <p:ph type="sldNum" idx="3"/>
          </p:nvPr>
        </p:nvSpPr>
        <p:spPr>
          <a:xfrm xmlns:a="http://schemas.openxmlformats.org/drawingml/2006/main">
            <a:off x="6552720" y="6244560"/>
            <a:ext cx="2133720" cy="476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>
            <a:lvl1pPr indent="0" algn="r">
              <a:buNone/>
              <a:defRPr sz="1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r">
              <a:buNone/>
            </a:pPr>
            <a:fld id="{3A6C964B-BEF6-42A5-A840-D20EF7A7017C}" type="slidenum"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&lt;number&gt;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787c37a88040a8"/>
  </p:sldLayoutIdLst>
</p:sldMaster>
</file>

<file path=ppt/slideMasters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30d38322d461a" /><Relationship Type="http://schemas.openxmlformats.org/officeDocument/2006/relationships/notesSlide" Target="/ppt/notesSlides/notesSlide1.xml" Id="R0ecf68d026b74c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75c38049a47d2" /><Relationship Type="http://schemas.openxmlformats.org/officeDocument/2006/relationships/notesSlide" Target="/ppt/notesSlides/notesSlide2.xml" Id="R96cfe727c2c44c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79c7e354a74fd0" /><Relationship Type="http://schemas.openxmlformats.org/officeDocument/2006/relationships/notesSlide" Target="/ppt/notesSlides/notesSlide3.xml" Id="Rf61577fea59540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c8ff272f849f8" /><Relationship Type="http://schemas.openxmlformats.org/officeDocument/2006/relationships/notesSlide" Target="/ppt/notesSlides/notesSlide4.xml" Id="R994c8e6346e14e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969b7a96d4066" /><Relationship Type="http://schemas.openxmlformats.org/officeDocument/2006/relationships/notesSlide" Target="/ppt/notesSlides/notesSlide5.xml" Id="Rf08dd6f5dbaa47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c03fb76a54d5e" /><Relationship Type="http://schemas.openxmlformats.org/officeDocument/2006/relationships/notesSlide" Target="/ppt/notesSlides/notesSlide6.xml" Id="R44f8388388f143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223136948045aa" /><Relationship Type="http://schemas.openxmlformats.org/officeDocument/2006/relationships/notesSlide" Target="/ppt/notesSlides/notesSlide7.xml" Id="Rce900e06459e44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e78c6708d4cd4" /><Relationship Type="http://schemas.openxmlformats.org/officeDocument/2006/relationships/notesSlide" Target="/ppt/notesSlides/notesSlide8.xml" Id="Re776f6a37d914ee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文本框 1">
            <a:extLst xmlns:a="http://schemas.openxmlformats.org/drawingml/2006/main">
              <a:ext uri="{FF2B5EF4-FFF2-40B4-BE49-F238E27FC236}">
                <a16:creationId xmlns:a16="http://schemas.microsoft.com/office/drawing/2014/main" id="{3A73BE4B-27D8-469D-94EB-A516C784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120" y="961920"/>
            <a:ext cx="6845400" cy="437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网管通电竞网吧运营管理系统</a:t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网管通项目组</a:t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组长：待填写</a:t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组员：待填写</a:t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项目答辩 · 2026-07-15</a:t>
            </a:r>
          </a:p>
        </p:txBody>
      </p:sp>
    </p:spTree>
    <p:extLst>
      <p:ext uri="{BB962C8B-B14F-4D97-AF65-F5344CB8AC3E}">
        <p14:creationId xmlns:p14="http://schemas.microsoft.com/office/powerpoint/2010/main" val="138845813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文本框 1">
            <a:extLst xmlns:a="http://schemas.openxmlformats.org/drawingml/2006/main">
              <a:ext uri="{FF2B5EF4-FFF2-40B4-BE49-F238E27FC236}">
                <a16:creationId xmlns:a16="http://schemas.microsoft.com/office/drawing/2014/main" id="{3A73BE4B-27D8-469D-94EB-A516C784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120" y="961920"/>
            <a:ext cx="6845400" cy="437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01  项目背景与目标</a:t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解决机位、会员、计费、订单和服务信息分散问题</a:t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连接顾客自助端与管理员后台</a:t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形成上机、预约、点餐、充值、营销和工单闭环</a:t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保证金额、状态与业务记录一致</a:t>
            </a:r>
          </a:p>
        </p:txBody>
      </p:sp>
    </p:spTree>
    <p:extLst>
      <p:ext uri="{BB962C8B-B14F-4D97-AF65-F5344CB8AC3E}">
        <p14:creationId xmlns:p14="http://schemas.microsoft.com/office/powerpoint/2010/main" val="13884581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文本框 1">
            <a:extLst xmlns:a="http://schemas.openxmlformats.org/drawingml/2006/main">
              <a:ext uri="{FF2B5EF4-FFF2-40B4-BE49-F238E27FC236}">
                <a16:creationId xmlns:a16="http://schemas.microsoft.com/office/drawing/2014/main" id="{3A73BE4B-27D8-469D-94EB-A516C784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120" y="961920"/>
            <a:ext cx="6845400" cy="437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02  使用环境和技术</a:t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前端：Vue 3 / Vue Router / Axios / Vite 5 / Arco Design Vue</a:t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后端：Java 17 / Spring Boot 3.3.5 / MyBatis-Plus 3.5.7</a:t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数据库：MySQL 8 / utf8mb4 / DECIMAL</a:t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部署：前端 5173 / 后端 8087 / Nginx 反向代理</a:t>
            </a:r>
          </a:p>
        </p:txBody>
      </p:sp>
    </p:spTree>
    <p:extLst>
      <p:ext uri="{BB962C8B-B14F-4D97-AF65-F5344CB8AC3E}">
        <p14:creationId xmlns:p14="http://schemas.microsoft.com/office/powerpoint/2010/main" val="138845813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文本框 1">
            <a:extLst xmlns:a="http://schemas.openxmlformats.org/drawingml/2006/main">
              <a:ext uri="{FF2B5EF4-FFF2-40B4-BE49-F238E27FC236}">
                <a16:creationId xmlns:a16="http://schemas.microsoft.com/office/drawing/2014/main" id="{3A73BE4B-27D8-469D-94EB-A516C784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120" y="961920"/>
            <a:ext cx="6845400" cy="437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03  用户端已完成功能</a:t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身份证号注册、登录、修改密码</a:t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机位大厅、开始上机、实时计费、预约</a:t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购物车点餐、优惠券、余额/微信/支付宝支付</a:t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每日签到、邀请推广、团购券核销</a:t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微信/支付宝余额充值、余额明细</a:t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呼叫网管、故障报修、服务记录</a:t>
            </a:r>
          </a:p>
        </p:txBody>
      </p:sp>
    </p:spTree>
    <p:extLst>
      <p:ext uri="{BB962C8B-B14F-4D97-AF65-F5344CB8AC3E}">
        <p14:creationId xmlns:p14="http://schemas.microsoft.com/office/powerpoint/2010/main" val="138845813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文本框 1">
            <a:extLst xmlns:a="http://schemas.openxmlformats.org/drawingml/2006/main">
              <a:ext uri="{FF2B5EF4-FFF2-40B4-BE49-F238E27FC236}">
                <a16:creationId xmlns:a16="http://schemas.microsoft.com/office/drawing/2014/main" id="{3A73BE4B-27D8-469D-94EB-A516C784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120" y="961920"/>
            <a:ext cx="6845400" cy="437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04  管理端已完成功能</a:t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经营看板：会员、电脑、今日充值和上机统计</a:t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会员、余额、电脑、上机和预约管理</a:t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商品、点餐订单、支付与退款处理</a:t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优惠券模板、签到规则、推广规则、团购券</a:t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呼叫网管与故障工单受理、完成、取消</a:t>
            </a:r>
          </a:p>
        </p:txBody>
      </p:sp>
    </p:spTree>
    <p:extLst>
      <p:ext uri="{BB962C8B-B14F-4D97-AF65-F5344CB8AC3E}">
        <p14:creationId xmlns:p14="http://schemas.microsoft.com/office/powerpoint/2010/main" val="138845813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文本框 1">
            <a:extLst xmlns:a="http://schemas.openxmlformats.org/drawingml/2006/main">
              <a:ext uri="{FF2B5EF4-FFF2-40B4-BE49-F238E27FC236}">
                <a16:creationId xmlns:a16="http://schemas.microsoft.com/office/drawing/2014/main" id="{3A73BE4B-27D8-469D-94EB-A516C784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120" y="961920"/>
            <a:ext cx="6845400" cy="437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05  核心业务闭环</a:t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上机：首小时扣费 → 每 60 秒补扣 → 余额不足自动下机</a:t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预约：锁定机位 → 取消/超时释放 → 预约转上机</a:t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点餐：后端重算 → 优惠占用 → 平台确认 → 交付/退款</a:t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充值：创建支付单 → 验签/查单 → 事务到账且只到账一次</a:t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工单：受理报修 → 维修中 → 完成后释放机位</a:t>
            </a:r>
          </a:p>
        </p:txBody>
      </p:sp>
    </p:spTree>
    <p:extLst>
      <p:ext uri="{BB962C8B-B14F-4D97-AF65-F5344CB8AC3E}">
        <p14:creationId xmlns:p14="http://schemas.microsoft.com/office/powerpoint/2010/main" val="138845813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文本框 1">
            <a:extLst xmlns:a="http://schemas.openxmlformats.org/drawingml/2006/main">
              <a:ext uri="{FF2B5EF4-FFF2-40B4-BE49-F238E27FC236}">
                <a16:creationId xmlns:a16="http://schemas.microsoft.com/office/drawing/2014/main" id="{3A73BE4B-27D8-469D-94EB-A516C784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120" y="961920"/>
            <a:ext cx="6845400" cy="437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06  系统规模与验证</a:t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14 个 Spring MVC Controller</a:t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64 个 HTTP 接口</a:t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18 张数据库表 / 169 个物理字段</a:t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验证方式：mvn test / npm run build</a:t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文档与 Controller、完整 SQL、前端路由交叉核对</a:t>
            </a:r>
          </a:p>
        </p:txBody>
      </p:sp>
    </p:spTree>
    <p:extLst>
      <p:ext uri="{BB962C8B-B14F-4D97-AF65-F5344CB8AC3E}">
        <p14:creationId xmlns:p14="http://schemas.microsoft.com/office/powerpoint/2010/main" val="138845813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文本框 1">
            <a:extLst xmlns:a="http://schemas.openxmlformats.org/drawingml/2006/main">
              <a:ext uri="{FF2B5EF4-FFF2-40B4-BE49-F238E27FC236}">
                <a16:creationId xmlns:a16="http://schemas.microsoft.com/office/drawing/2014/main" id="{3A73BE4B-27D8-469D-94EB-A516C784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120" y="961920"/>
            <a:ext cx="6845400" cy="437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07  演示路线与总结</a:t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1. 用户登录并选择空闲机位上机</a:t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2. 购物车点餐，展示优惠券和支付</a:t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3. 展示余额充值、签到、团购券和服务中心</a:t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4. 进入后台查看订单、工单、营销和经营数据</a:t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项目重点：跨表状态与金额一致性</a:t>
            </a:r>
          </a:p>
          <a:p xmlns:a="http://schemas.openxmlformats.org/drawingml/2006/main">
            <a:pPr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谢谢老师！</a:t>
            </a:r>
          </a:p>
        </p:txBody>
      </p:sp>
    </p:spTree>
    <p:extLst>
      <p:ext uri="{BB962C8B-B14F-4D97-AF65-F5344CB8AC3E}">
        <p14:creationId xmlns:p14="http://schemas.microsoft.com/office/powerpoint/2010/main" val="1388458130"/>
      </p:ext>
    </p:extLst>
  </p:cSld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2026-07-15T03:23:33.0210000Z</dcterms:created>
  <dcterms:modified xsi:type="dcterms:W3CDTF">2026-07-15T03:23:33.0210000Z</dcterms:modified>
</coreProperties>
</file>